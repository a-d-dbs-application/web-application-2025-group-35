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6" r:id="rId13"/>
    <p:sldId id="264" r:id="rId14"/>
    <p:sldId id="272" r:id="rId15"/>
    <p:sldId id="265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73C75-6CB8-BB5E-4A90-2F0C742D67F3}" v="203" dt="2025-12-16T06:50:40.750"/>
    <p1510:client id="{826D7F6A-6DF8-DBB1-D063-7A13DC0BD907}" v="508" dt="2025-12-15T21:24:40.742"/>
    <p1510:client id="{BA7AA016-13EC-9483-BB56-6ECC82A35E89}" v="21" dt="2025-12-17T21:16:26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DAB4A-98B0-4C4A-AB3C-8632C1F715C7}" type="datetimeFigureOut">
              <a:t>12/19/2025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74F04-D5D0-46C1-8271-4CF2806571C0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279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Op </a:t>
            </a:r>
            <a:r>
              <a:rPr lang="en-US" err="1"/>
              <a:t>Wielekes</a:t>
            </a:r>
            <a:r>
              <a:rPr lang="en-US"/>
              <a:t> is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initiatief</a:t>
            </a:r>
            <a:r>
              <a:rPr lang="en-US"/>
              <a:t> </a:t>
            </a:r>
            <a:r>
              <a:rPr lang="en-US" err="1"/>
              <a:t>binnen</a:t>
            </a:r>
            <a:r>
              <a:rPr lang="en-US"/>
              <a:t> </a:t>
            </a:r>
            <a:r>
              <a:rPr lang="en-US" b="1" err="1"/>
              <a:t>Mpact</a:t>
            </a:r>
            <a:r>
              <a:rPr lang="en-US"/>
              <a:t>,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Belgische</a:t>
            </a:r>
            <a:r>
              <a:rPr lang="en-US"/>
              <a:t> </a:t>
            </a:r>
            <a:r>
              <a:rPr lang="en-US" err="1"/>
              <a:t>organisatie</a:t>
            </a:r>
            <a:r>
              <a:rPr lang="en-US"/>
              <a:t> </a:t>
            </a:r>
            <a:r>
              <a:rPr lang="en-US" err="1"/>
              <a:t>gespecialiseerd</a:t>
            </a:r>
            <a:r>
              <a:rPr lang="en-US"/>
              <a:t> in </a:t>
            </a:r>
            <a:r>
              <a:rPr lang="en-US" b="1" err="1"/>
              <a:t>duurzame</a:t>
            </a:r>
            <a:r>
              <a:rPr lang="en-US" b="1"/>
              <a:t> </a:t>
            </a:r>
            <a:r>
              <a:rPr lang="en-US" b="1" err="1"/>
              <a:t>mobiliteit</a:t>
            </a:r>
            <a:r>
              <a:rPr lang="en-US" b="1"/>
              <a:t>, </a:t>
            </a:r>
            <a:r>
              <a:rPr lang="en-US" b="1" err="1"/>
              <a:t>delen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slim </a:t>
            </a:r>
            <a:r>
              <a:rPr lang="en-US" b="1" err="1"/>
              <a:t>gebruik</a:t>
            </a:r>
            <a:r>
              <a:rPr lang="en-US" b="1"/>
              <a:t> van </a:t>
            </a:r>
            <a:r>
              <a:rPr lang="en-US" b="1" err="1"/>
              <a:t>ruimte</a:t>
            </a:r>
            <a:r>
              <a:rPr lang="en-US"/>
              <a:t>.</a:t>
            </a:r>
            <a:endParaRPr lang="nl-NL"/>
          </a:p>
          <a:p>
            <a:pPr marL="285750" indent="-285750">
              <a:buFont typeface="Arial"/>
              <a:buChar char="•"/>
            </a:pPr>
            <a:r>
              <a:rPr lang="en-US" err="1"/>
              <a:t>Mpact</a:t>
            </a:r>
            <a:r>
              <a:rPr lang="en-US"/>
              <a:t> </a:t>
            </a:r>
            <a:r>
              <a:rPr lang="en-US" err="1"/>
              <a:t>ontwikkelt</a:t>
            </a:r>
            <a:r>
              <a:rPr lang="en-US"/>
              <a:t> </a:t>
            </a:r>
            <a:r>
              <a:rPr lang="en-US" err="1"/>
              <a:t>oplossingen</a:t>
            </a:r>
            <a:r>
              <a:rPr lang="en-US"/>
              <a:t> </a:t>
            </a:r>
            <a:r>
              <a:rPr lang="en-US" err="1"/>
              <a:t>rond</a:t>
            </a:r>
            <a:r>
              <a:rPr lang="en-US"/>
              <a:t> </a:t>
            </a:r>
            <a:r>
              <a:rPr lang="en-US" err="1"/>
              <a:t>o.a.</a:t>
            </a:r>
            <a:r>
              <a:rPr lang="en-US"/>
              <a:t> </a:t>
            </a:r>
            <a:r>
              <a:rPr lang="en-US" err="1"/>
              <a:t>autodelen</a:t>
            </a:r>
            <a:r>
              <a:rPr lang="en-US"/>
              <a:t>, </a:t>
            </a:r>
            <a:r>
              <a:rPr lang="en-US" err="1"/>
              <a:t>fietsdelen</a:t>
            </a:r>
            <a:r>
              <a:rPr lang="en-US"/>
              <a:t>, </a:t>
            </a:r>
            <a:r>
              <a:rPr lang="en-US" err="1"/>
              <a:t>mobiliteitsadvies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inclusieve</a:t>
            </a:r>
            <a:r>
              <a:rPr lang="en-US"/>
              <a:t> </a:t>
            </a:r>
            <a:r>
              <a:rPr lang="en-US" err="1"/>
              <a:t>mobiliteitsprojecten</a:t>
            </a:r>
            <a:r>
              <a:rPr lang="en-US"/>
              <a:t>.</a:t>
            </a:r>
            <a:endParaRPr lang="nl-NL"/>
          </a:p>
          <a:p>
            <a:pPr marL="285750" indent="-285750">
              <a:buFont typeface="Arial"/>
              <a:buChar char="•"/>
            </a:pPr>
            <a:r>
              <a:rPr lang="en-US"/>
              <a:t>Andere </a:t>
            </a:r>
            <a:r>
              <a:rPr lang="en-US" err="1"/>
              <a:t>bekende</a:t>
            </a:r>
            <a:r>
              <a:rPr lang="en-US"/>
              <a:t> </a:t>
            </a:r>
            <a:r>
              <a:rPr lang="en-US" err="1"/>
              <a:t>initiatieven</a:t>
            </a:r>
            <a:r>
              <a:rPr lang="en-US"/>
              <a:t> </a:t>
            </a:r>
            <a:r>
              <a:rPr lang="en-US" err="1"/>
              <a:t>binnen</a:t>
            </a:r>
            <a:r>
              <a:rPr lang="en-US"/>
              <a:t> </a:t>
            </a:r>
            <a:r>
              <a:rPr lang="en-US" err="1"/>
              <a:t>Mpact</a:t>
            </a:r>
            <a:r>
              <a:rPr lang="en-US"/>
              <a:t> </a:t>
            </a:r>
            <a:r>
              <a:rPr lang="en-US" err="1"/>
              <a:t>zijn</a:t>
            </a:r>
            <a:r>
              <a:rPr lang="en-US"/>
              <a:t> </a:t>
            </a:r>
            <a:r>
              <a:rPr lang="en-US" err="1"/>
              <a:t>o.a.</a:t>
            </a:r>
            <a:r>
              <a:rPr lang="en-US"/>
              <a:t> </a:t>
            </a:r>
            <a:r>
              <a:rPr lang="en-US" b="1"/>
              <a:t>Cambio</a:t>
            </a:r>
            <a:r>
              <a:rPr lang="en-US"/>
              <a:t> (</a:t>
            </a:r>
            <a:r>
              <a:rPr lang="en-US" err="1"/>
              <a:t>autodelen</a:t>
            </a:r>
            <a:r>
              <a:rPr lang="en-US"/>
              <a:t>)</a:t>
            </a:r>
            <a:endParaRPr lang="nl-NL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nl-NL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7810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/>
              <a:t>Op </a:t>
            </a:r>
            <a:r>
              <a:rPr lang="en-US" b="1" err="1"/>
              <a:t>Wielekes</a:t>
            </a:r>
            <a:r>
              <a:rPr lang="en-US"/>
              <a:t> is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sociaal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circulair</a:t>
            </a:r>
            <a:r>
              <a:rPr lang="en-US"/>
              <a:t> </a:t>
            </a:r>
            <a:r>
              <a:rPr lang="en-US" err="1"/>
              <a:t>initiatief</a:t>
            </a:r>
            <a:r>
              <a:rPr lang="en-US"/>
              <a:t> </a:t>
            </a:r>
            <a:r>
              <a:rPr lang="en-US" err="1"/>
              <a:t>dat</a:t>
            </a:r>
            <a:r>
              <a:rPr lang="en-US"/>
              <a:t> </a:t>
            </a:r>
            <a:r>
              <a:rPr lang="en-US" err="1"/>
              <a:t>inzet</a:t>
            </a:r>
            <a:r>
              <a:rPr lang="en-US"/>
              <a:t> op </a:t>
            </a:r>
            <a:r>
              <a:rPr lang="en-US" err="1"/>
              <a:t>duurzame</a:t>
            </a:r>
            <a:r>
              <a:rPr lang="en-US"/>
              <a:t> </a:t>
            </a:r>
            <a:r>
              <a:rPr lang="en-US" err="1"/>
              <a:t>kinderfiets-mobiliteit</a:t>
            </a:r>
            <a:r>
              <a:rPr lang="en-US"/>
              <a:t>.</a:t>
            </a:r>
            <a:endParaRPr lang="nl-NL"/>
          </a:p>
          <a:p>
            <a:pPr marL="285750" indent="-285750">
              <a:buFont typeface="Arial"/>
              <a:buChar char="•"/>
            </a:pPr>
            <a:r>
              <a:rPr lang="en-US"/>
              <a:t>Het project </a:t>
            </a:r>
            <a:r>
              <a:rPr lang="en-US" err="1"/>
              <a:t>stimuleert</a:t>
            </a:r>
            <a:r>
              <a:rPr lang="en-US"/>
              <a:t> </a:t>
            </a:r>
            <a:r>
              <a:rPr lang="en-US" b="1" err="1"/>
              <a:t>hergebruik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delen</a:t>
            </a:r>
            <a:r>
              <a:rPr lang="en-US"/>
              <a:t> van </a:t>
            </a:r>
            <a:r>
              <a:rPr lang="en-US" err="1"/>
              <a:t>kinderfietsen</a:t>
            </a:r>
            <a:r>
              <a:rPr lang="en-US"/>
              <a:t> om zo </a:t>
            </a:r>
            <a:r>
              <a:rPr lang="en-US" err="1"/>
              <a:t>verspilling</a:t>
            </a:r>
            <a:r>
              <a:rPr lang="en-US"/>
              <a:t> </a:t>
            </a:r>
            <a:r>
              <a:rPr lang="en-US" err="1"/>
              <a:t>tegen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gaan</a:t>
            </a:r>
            <a:r>
              <a:rPr lang="en-US"/>
              <a:t>.</a:t>
            </a:r>
            <a:endParaRPr lang="nl-NL"/>
          </a:p>
          <a:p>
            <a:pPr marL="285750" indent="-285750">
              <a:buFont typeface="Arial"/>
              <a:buChar char="•"/>
            </a:pPr>
            <a:r>
              <a:rPr lang="en-US"/>
              <a:t>Door het </a:t>
            </a:r>
            <a:r>
              <a:rPr lang="en-US" err="1"/>
              <a:t>gebruik</a:t>
            </a:r>
            <a:r>
              <a:rPr lang="en-US"/>
              <a:t> van </a:t>
            </a:r>
            <a:r>
              <a:rPr lang="en-US" err="1"/>
              <a:t>lokaal</a:t>
            </a:r>
            <a:r>
              <a:rPr lang="en-US"/>
              <a:t> </a:t>
            </a:r>
            <a:r>
              <a:rPr lang="en-US" err="1"/>
              <a:t>beheerde</a:t>
            </a:r>
            <a:r>
              <a:rPr lang="en-US"/>
              <a:t> </a:t>
            </a:r>
            <a:r>
              <a:rPr lang="en-US" err="1"/>
              <a:t>uitleenpunten</a:t>
            </a:r>
            <a:r>
              <a:rPr lang="en-US"/>
              <a:t> </a:t>
            </a:r>
            <a:r>
              <a:rPr lang="en-US" err="1"/>
              <a:t>verlaagt</a:t>
            </a:r>
            <a:r>
              <a:rPr lang="en-US"/>
              <a:t> Op </a:t>
            </a:r>
            <a:r>
              <a:rPr lang="en-US" err="1"/>
              <a:t>Wielekes</a:t>
            </a:r>
            <a:r>
              <a:rPr lang="en-US"/>
              <a:t> de </a:t>
            </a:r>
            <a:r>
              <a:rPr lang="en-US" err="1"/>
              <a:t>kost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drempel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gezinnen</a:t>
            </a:r>
            <a:r>
              <a:rPr lang="en-US"/>
              <a:t>.</a:t>
            </a:r>
            <a:endParaRPr lang="nl-NL"/>
          </a:p>
          <a:p>
            <a:pPr marL="285750" indent="-285750">
              <a:buFont typeface="Arial"/>
              <a:buChar char="•"/>
            </a:pPr>
            <a:r>
              <a:rPr lang="en-US"/>
              <a:t>De </a:t>
            </a:r>
            <a:r>
              <a:rPr lang="en-US" err="1"/>
              <a:t>organisatie</a:t>
            </a:r>
            <a:r>
              <a:rPr lang="en-US"/>
              <a:t> </a:t>
            </a:r>
            <a:r>
              <a:rPr lang="en-US" err="1"/>
              <a:t>combineert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 err="1"/>
              <a:t>sociaal</a:t>
            </a:r>
            <a:r>
              <a:rPr lang="en-US" b="1"/>
              <a:t> </a:t>
            </a:r>
            <a:r>
              <a:rPr lang="en-US" b="1" err="1"/>
              <a:t>doel</a:t>
            </a:r>
            <a:r>
              <a:rPr lang="en-US"/>
              <a:t> (</a:t>
            </a:r>
            <a:r>
              <a:rPr lang="en-US" err="1"/>
              <a:t>betaalbaarheid</a:t>
            </a:r>
            <a:r>
              <a:rPr lang="en-US"/>
              <a:t> &amp; </a:t>
            </a:r>
            <a:r>
              <a:rPr lang="en-US" err="1"/>
              <a:t>inclusie</a:t>
            </a:r>
            <a:r>
              <a:rPr lang="en-US"/>
              <a:t>) met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 err="1"/>
              <a:t>ecologisch</a:t>
            </a:r>
            <a:r>
              <a:rPr lang="en-US" b="1"/>
              <a:t> </a:t>
            </a:r>
            <a:r>
              <a:rPr lang="en-US" b="1" err="1"/>
              <a:t>doel</a:t>
            </a:r>
            <a:r>
              <a:rPr lang="en-US"/>
              <a:t> (minder </a:t>
            </a:r>
            <a:r>
              <a:rPr lang="en-US" err="1"/>
              <a:t>productie</a:t>
            </a:r>
            <a:r>
              <a:rPr lang="en-US"/>
              <a:t>, </a:t>
            </a:r>
            <a:r>
              <a:rPr lang="en-US" err="1"/>
              <a:t>langere</a:t>
            </a:r>
            <a:r>
              <a:rPr lang="en-US"/>
              <a:t> </a:t>
            </a:r>
            <a:r>
              <a:rPr lang="en-US" err="1"/>
              <a:t>levensduur</a:t>
            </a:r>
            <a:r>
              <a:rPr lang="en-US"/>
              <a:t> van </a:t>
            </a:r>
            <a:r>
              <a:rPr lang="en-US" err="1"/>
              <a:t>fietsen</a:t>
            </a:r>
            <a:r>
              <a:rPr lang="en-US"/>
              <a:t>).</a:t>
            </a:r>
            <a:endParaRPr lang="nl-NL"/>
          </a:p>
          <a:p>
            <a:pPr>
              <a:buFont typeface="Arial"/>
              <a:buChar char="•"/>
            </a:pPr>
            <a:r>
              <a:rPr lang="en-US" b="1" err="1"/>
              <a:t>Circulaire</a:t>
            </a:r>
            <a:r>
              <a:rPr lang="en-US" b="1"/>
              <a:t> </a:t>
            </a:r>
            <a:r>
              <a:rPr lang="en-US" b="1" err="1"/>
              <a:t>economie</a:t>
            </a:r>
            <a:r>
              <a:rPr lang="en-US" b="1"/>
              <a:t> </a:t>
            </a:r>
            <a:r>
              <a:rPr lang="en-US" b="1" err="1"/>
              <a:t>versterken</a:t>
            </a:r>
            <a:r>
              <a:rPr lang="en-US"/>
              <a:t>: </a:t>
            </a:r>
            <a:r>
              <a:rPr lang="en-US" err="1"/>
              <a:t>stimuleren</a:t>
            </a:r>
            <a:r>
              <a:rPr lang="en-US"/>
              <a:t> van </a:t>
            </a:r>
            <a:r>
              <a:rPr lang="en-US" err="1"/>
              <a:t>hergebruik</a:t>
            </a:r>
            <a:r>
              <a:rPr lang="en-US"/>
              <a:t>, </a:t>
            </a:r>
            <a:r>
              <a:rPr lang="en-US" err="1"/>
              <a:t>onderhoud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reparatie</a:t>
            </a:r>
            <a:r>
              <a:rPr lang="en-US"/>
              <a:t> van </a:t>
            </a:r>
            <a:r>
              <a:rPr lang="en-US" err="1"/>
              <a:t>fietsen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2675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Dit is </a:t>
            </a:r>
            <a:r>
              <a:rPr lang="en-US" err="1">
                <a:ea typeface="Calibri"/>
                <a:cs typeface="Calibri"/>
              </a:rPr>
              <a:t>ons</a:t>
            </a:r>
            <a:r>
              <a:rPr lang="en-US">
                <a:ea typeface="Calibri"/>
                <a:cs typeface="Calibri"/>
              </a:rPr>
              <a:t> '</a:t>
            </a:r>
            <a:r>
              <a:rPr lang="en-US" err="1">
                <a:ea typeface="Calibri"/>
                <a:cs typeface="Calibri"/>
              </a:rPr>
              <a:t>startpunt</a:t>
            </a:r>
            <a:r>
              <a:rPr lang="en-US">
                <a:ea typeface="Calibri"/>
                <a:cs typeface="Calibri"/>
              </a:rPr>
              <a:t>'. Dus </a:t>
            </a:r>
            <a:r>
              <a:rPr lang="en-US" err="1">
                <a:ea typeface="Calibri"/>
                <a:cs typeface="Calibri"/>
              </a:rPr>
              <a:t>hier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leggen</a:t>
            </a:r>
            <a:r>
              <a:rPr lang="en-US">
                <a:ea typeface="Calibri"/>
                <a:cs typeface="Calibri"/>
              </a:rPr>
              <a:t> we </a:t>
            </a:r>
            <a:r>
              <a:rPr lang="en-US" err="1">
                <a:ea typeface="Calibri"/>
                <a:cs typeface="Calibri"/>
              </a:rPr>
              <a:t>uit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dat</a:t>
            </a:r>
            <a:r>
              <a:rPr lang="en-US">
                <a:ea typeface="Calibri"/>
                <a:cs typeface="Calibri"/>
              </a:rPr>
              <a:t> we </a:t>
            </a:r>
            <a:r>
              <a:rPr lang="en-US" err="1">
                <a:ea typeface="Calibri"/>
                <a:cs typeface="Calibri"/>
              </a:rPr>
              <a:t>daarmee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gestart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zijn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leggen</a:t>
            </a:r>
            <a:r>
              <a:rPr lang="en-US">
                <a:ea typeface="Calibri"/>
                <a:cs typeface="Calibri"/>
              </a:rPr>
              <a:t> we </a:t>
            </a:r>
            <a:r>
              <a:rPr lang="en-US" err="1">
                <a:ea typeface="Calibri"/>
                <a:cs typeface="Calibri"/>
              </a:rPr>
              <a:t>dat</a:t>
            </a:r>
            <a:r>
              <a:rPr lang="en-US">
                <a:ea typeface="Calibri"/>
                <a:cs typeface="Calibri"/>
              </a:rPr>
              <a:t> schema </a:t>
            </a:r>
            <a:r>
              <a:rPr lang="en-US" err="1">
                <a:ea typeface="Calibri"/>
                <a:cs typeface="Calibri"/>
              </a:rPr>
              <a:t>uit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Foto </a:t>
            </a:r>
            <a:r>
              <a:rPr lang="en-US" err="1">
                <a:ea typeface="Calibri"/>
                <a:cs typeface="Calibri"/>
              </a:rPr>
              <a:t>erd</a:t>
            </a:r>
            <a:r>
              <a:rPr lang="en-US">
                <a:ea typeface="Calibri"/>
                <a:cs typeface="Calibri"/>
              </a:rPr>
              <a:t> model </a:t>
            </a:r>
            <a:r>
              <a:rPr lang="en-US" err="1">
                <a:ea typeface="Calibri"/>
                <a:cs typeface="Calibri"/>
              </a:rPr>
              <a:t>toevoegen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nl-NL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2426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Algemene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structuur</a:t>
            </a:r>
            <a:r>
              <a:rPr lang="en-US">
                <a:ea typeface="Calibri"/>
                <a:cs typeface="Calibri"/>
              </a:rPr>
              <a:t> + </a:t>
            </a:r>
            <a:r>
              <a:rPr lang="en-US" err="1">
                <a:ea typeface="Calibri"/>
                <a:cs typeface="Calibri"/>
              </a:rPr>
              <a:t>opmaak</a:t>
            </a:r>
            <a:r>
              <a:rPr lang="en-US">
                <a:ea typeface="Calibri"/>
                <a:cs typeface="Calibri"/>
              </a:rPr>
              <a:t>   </a:t>
            </a:r>
          </a:p>
          <a:p>
            <a:r>
              <a:rPr lang="en-US">
                <a:ea typeface="Calibri"/>
                <a:cs typeface="Calibri"/>
              </a:rPr>
              <a:t>MVC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De </a:t>
            </a:r>
            <a:r>
              <a:rPr lang="en-US" err="1"/>
              <a:t>toepassing</a:t>
            </a:r>
            <a:r>
              <a:rPr lang="en-US"/>
              <a:t> </a:t>
            </a:r>
            <a:r>
              <a:rPr lang="en-US" err="1"/>
              <a:t>volgt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/>
              <a:t>MVC-</a:t>
            </a:r>
            <a:r>
              <a:rPr lang="en-US" b="1" err="1"/>
              <a:t>achtige</a:t>
            </a:r>
            <a:r>
              <a:rPr lang="en-US" b="1"/>
              <a:t> </a:t>
            </a:r>
            <a:r>
              <a:rPr lang="en-US" b="1" err="1"/>
              <a:t>structuur</a:t>
            </a:r>
            <a:r>
              <a:rPr lang="en-US"/>
              <a:t> (Model–View–Controller).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/>
              <a:t>Models</a:t>
            </a:r>
            <a:r>
              <a:rPr lang="en-US"/>
              <a:t> (</a:t>
            </a:r>
            <a:r>
              <a:rPr lang="en-US" err="1"/>
              <a:t>bijv</a:t>
            </a:r>
            <a:r>
              <a:rPr lang="en-US"/>
              <a:t>. models.py): </a:t>
            </a:r>
            <a:r>
              <a:rPr lang="en-US" err="1"/>
              <a:t>definieert</a:t>
            </a:r>
            <a:r>
              <a:rPr lang="en-US"/>
              <a:t> database-</a:t>
            </a:r>
            <a:r>
              <a:rPr lang="en-US" err="1"/>
              <a:t>entiteiten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/>
              <a:t>Views</a:t>
            </a:r>
            <a:r>
              <a:rPr lang="en-US"/>
              <a:t> / Routes (</a:t>
            </a:r>
            <a:r>
              <a:rPr lang="en-US" err="1"/>
              <a:t>bijv</a:t>
            </a:r>
            <a:r>
              <a:rPr lang="en-US"/>
              <a:t>. routes.py, views.py): </a:t>
            </a:r>
            <a:r>
              <a:rPr lang="en-US" err="1"/>
              <a:t>logica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requests </a:t>
            </a:r>
            <a:r>
              <a:rPr lang="en-US" err="1"/>
              <a:t>en</a:t>
            </a:r>
            <a:r>
              <a:rPr lang="en-US"/>
              <a:t> responses.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/>
              <a:t>Templates</a:t>
            </a:r>
            <a:r>
              <a:rPr lang="en-US"/>
              <a:t> (HTML-</a:t>
            </a:r>
            <a:r>
              <a:rPr lang="en-US" err="1"/>
              <a:t>bestanden</a:t>
            </a:r>
            <a:r>
              <a:rPr lang="en-US"/>
              <a:t> in /templates): front-end rendering.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err="1"/>
              <a:t>Deze</a:t>
            </a:r>
            <a:r>
              <a:rPr lang="en-US"/>
              <a:t> </a:t>
            </a:r>
            <a:r>
              <a:rPr lang="en-US" err="1"/>
              <a:t>structuur</a:t>
            </a:r>
            <a:r>
              <a:rPr lang="en-US"/>
              <a:t> </a:t>
            </a:r>
            <a:r>
              <a:rPr lang="en-US" err="1"/>
              <a:t>zorgt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b="1" err="1"/>
              <a:t>scheiding</a:t>
            </a:r>
            <a:r>
              <a:rPr lang="en-US" b="1"/>
              <a:t> van </a:t>
            </a:r>
            <a:r>
              <a:rPr lang="en-US" b="1" err="1"/>
              <a:t>verantwoordelijkheden</a:t>
            </a:r>
            <a:r>
              <a:rPr lang="en-US"/>
              <a:t>, wat </a:t>
            </a:r>
            <a:r>
              <a:rPr lang="en-US" err="1"/>
              <a:t>onderhoud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uitbreidbaarheid</a:t>
            </a:r>
            <a:r>
              <a:rPr lang="en-US"/>
              <a:t> </a:t>
            </a:r>
            <a:r>
              <a:rPr lang="en-US" err="1"/>
              <a:t>verbetert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Er </a:t>
            </a:r>
            <a:r>
              <a:rPr lang="en-US" err="1">
                <a:ea typeface="Calibri"/>
                <a:cs typeface="Calibri"/>
              </a:rPr>
              <a:t>zijn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bepaalde</a:t>
            </a:r>
            <a:r>
              <a:rPr lang="en-US">
                <a:ea typeface="Calibri"/>
                <a:cs typeface="Calibri"/>
              </a:rPr>
              <a:t> requirements:</a:t>
            </a:r>
          </a:p>
          <a:p>
            <a:r>
              <a:rPr lang="en-US"/>
              <a:t>Het </a:t>
            </a:r>
            <a:r>
              <a:rPr lang="en-US" err="1"/>
              <a:t>bestand</a:t>
            </a:r>
            <a:r>
              <a:rPr lang="en-US"/>
              <a:t> </a:t>
            </a:r>
            <a:r>
              <a:rPr lang="en-US" b="1"/>
              <a:t>requirements.txt</a:t>
            </a:r>
            <a:r>
              <a:rPr lang="en-US"/>
              <a:t> </a:t>
            </a:r>
            <a:r>
              <a:rPr lang="en-US" err="1"/>
              <a:t>bevat</a:t>
            </a:r>
            <a:r>
              <a:rPr lang="en-US"/>
              <a:t> alle Python-packages </a:t>
            </a:r>
            <a:r>
              <a:rPr lang="en-US" err="1"/>
              <a:t>nodig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de </a:t>
            </a:r>
            <a:r>
              <a:rPr lang="en-US" err="1"/>
              <a:t>applicatie</a:t>
            </a:r>
            <a:r>
              <a:rPr lang="en-US"/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/>
              <a:t>3 — Templates &amp; Styling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Binnen de map </a:t>
            </a:r>
            <a:r>
              <a:rPr lang="en-US" b="1"/>
              <a:t>/templates</a:t>
            </a:r>
            <a:r>
              <a:rPr lang="en-US"/>
              <a:t> </a:t>
            </a:r>
            <a:r>
              <a:rPr lang="en-US" err="1"/>
              <a:t>staan</a:t>
            </a:r>
            <a:r>
              <a:rPr lang="en-US"/>
              <a:t> alle HTML-</a:t>
            </a:r>
            <a:r>
              <a:rPr lang="en-US" err="1"/>
              <a:t>pagina’s</a:t>
            </a:r>
            <a:r>
              <a:rPr lang="en-US"/>
              <a:t> van de </a:t>
            </a:r>
            <a:r>
              <a:rPr lang="en-US" err="1"/>
              <a:t>webapplicatie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 err="1"/>
              <a:t>Gebruik</a:t>
            </a:r>
            <a:r>
              <a:rPr lang="en-US"/>
              <a:t> van </a:t>
            </a:r>
            <a:r>
              <a:rPr lang="en-US" b="1"/>
              <a:t>Jinja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dynamische</a:t>
            </a:r>
            <a:r>
              <a:rPr lang="en-US"/>
              <a:t> content in </a:t>
            </a:r>
            <a:r>
              <a:rPr lang="en-US" err="1"/>
              <a:t>combinatie</a:t>
            </a:r>
            <a:r>
              <a:rPr lang="en-US"/>
              <a:t> met Flask (</a:t>
            </a:r>
            <a:r>
              <a:rPr lang="en-US" err="1"/>
              <a:t>bv</a:t>
            </a:r>
            <a:r>
              <a:rPr lang="en-US"/>
              <a:t>. {% extends "base.html" %}).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CSS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statische</a:t>
            </a:r>
            <a:r>
              <a:rPr lang="en-US"/>
              <a:t> </a:t>
            </a:r>
            <a:r>
              <a:rPr lang="en-US" err="1"/>
              <a:t>bestanden</a:t>
            </a:r>
            <a:r>
              <a:rPr lang="en-US"/>
              <a:t> </a:t>
            </a:r>
            <a:r>
              <a:rPr lang="en-US" err="1"/>
              <a:t>staan</a:t>
            </a:r>
            <a:r>
              <a:rPr lang="en-US"/>
              <a:t> in /static.   (</a:t>
            </a:r>
            <a:r>
              <a:rPr lang="en-US" err="1"/>
              <a:t>staat</a:t>
            </a:r>
            <a:r>
              <a:rPr lang="en-US"/>
              <a:t> apart, </a:t>
            </a:r>
            <a:r>
              <a:rPr lang="en-US" err="1"/>
              <a:t>niet</a:t>
            </a:r>
            <a:r>
              <a:rPr lang="en-US"/>
              <a:t> in templates!!!!)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Dit </a:t>
            </a:r>
            <a:r>
              <a:rPr lang="en-US" err="1"/>
              <a:t>zorgt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b="1" err="1"/>
              <a:t>modulaire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</a:t>
            </a:r>
            <a:r>
              <a:rPr lang="en-US" b="1" err="1"/>
              <a:t>herbruikbare</a:t>
            </a:r>
            <a:r>
              <a:rPr lang="en-US" b="1"/>
              <a:t> </a:t>
            </a:r>
            <a:r>
              <a:rPr lang="en-US" b="1" err="1"/>
              <a:t>opmaak</a:t>
            </a:r>
            <a:r>
              <a:rPr lang="en-US"/>
              <a:t>, </a:t>
            </a:r>
            <a:r>
              <a:rPr lang="en-US" err="1"/>
              <a:t>waardoor</a:t>
            </a:r>
            <a:r>
              <a:rPr lang="en-US"/>
              <a:t> </a:t>
            </a:r>
            <a:r>
              <a:rPr lang="en-US" err="1"/>
              <a:t>wijzigingen</a:t>
            </a:r>
            <a:r>
              <a:rPr lang="en-US"/>
              <a:t> </a:t>
            </a:r>
            <a:r>
              <a:rPr lang="en-US" err="1"/>
              <a:t>centraal</a:t>
            </a:r>
            <a:r>
              <a:rPr lang="en-US"/>
              <a:t> </a:t>
            </a:r>
            <a:r>
              <a:rPr lang="en-US" err="1"/>
              <a:t>doorgevoerd</a:t>
            </a:r>
            <a:r>
              <a:rPr lang="en-US"/>
              <a:t> </a:t>
            </a:r>
            <a:r>
              <a:rPr lang="en-US" err="1"/>
              <a:t>kunnen</a:t>
            </a:r>
            <a:r>
              <a:rPr lang="en-US"/>
              <a:t> </a:t>
            </a:r>
            <a:r>
              <a:rPr lang="en-US" err="1"/>
              <a:t>worden</a:t>
            </a:r>
            <a:r>
              <a:rPr lang="en-US"/>
              <a:t>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nl-NL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7788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Startpunt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webaplicatie</a:t>
            </a:r>
            <a:r>
              <a:rPr lang="en-US">
                <a:ea typeface="Calibri"/>
                <a:cs typeface="Calibri"/>
              </a:rPr>
              <a:t>(</a:t>
            </a:r>
            <a:r>
              <a:rPr lang="en-US" err="1">
                <a:ea typeface="Calibri"/>
                <a:cs typeface="Calibri"/>
              </a:rPr>
              <a:t>eerste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beeld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>
                <a:ea typeface="Calibri"/>
                <a:cs typeface="Calibri"/>
              </a:rPr>
              <a:t>Je </a:t>
            </a:r>
            <a:r>
              <a:rPr lang="en-US" err="1">
                <a:ea typeface="Calibri"/>
                <a:cs typeface="Calibri"/>
              </a:rPr>
              <a:t>kan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inloggen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als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depotmederwerker</a:t>
            </a:r>
            <a:r>
              <a:rPr lang="en-US">
                <a:ea typeface="Calibri"/>
                <a:cs typeface="Calibri"/>
              </a:rPr>
              <a:t> of </a:t>
            </a:r>
            <a:r>
              <a:rPr lang="en-US" err="1">
                <a:ea typeface="Calibri"/>
                <a:cs typeface="Calibri"/>
              </a:rPr>
              <a:t>als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financieel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medewerker</a:t>
            </a:r>
            <a:r>
              <a:rPr lang="en-US">
                <a:ea typeface="Calibri"/>
                <a:cs typeface="Calibri"/>
              </a:rPr>
              <a:t>. </a:t>
            </a:r>
          </a:p>
          <a:p>
            <a:r>
              <a:rPr lang="en-US" err="1">
                <a:ea typeface="Calibri"/>
                <a:cs typeface="Calibri"/>
              </a:rPr>
              <a:t>Financieel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medewerker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kan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zien</a:t>
            </a:r>
            <a:r>
              <a:rPr lang="en-US">
                <a:ea typeface="Calibri"/>
                <a:cs typeface="Calibri"/>
              </a:rPr>
              <a:t> dan </a:t>
            </a:r>
            <a:r>
              <a:rPr lang="en-US" err="1">
                <a:ea typeface="Calibri"/>
                <a:cs typeface="Calibri"/>
              </a:rPr>
              <a:t>depotmedewerker</a:t>
            </a:r>
            <a:r>
              <a:rPr lang="en-US">
                <a:ea typeface="Calibri"/>
                <a:cs typeface="Calibri"/>
              </a:rPr>
              <a:t> (</a:t>
            </a:r>
            <a:r>
              <a:rPr lang="en-US" err="1">
                <a:ea typeface="Calibri"/>
                <a:cs typeface="Calibri"/>
              </a:rPr>
              <a:t>financieel</a:t>
            </a:r>
            <a:r>
              <a:rPr lang="en-US">
                <a:ea typeface="Calibri"/>
                <a:cs typeface="Calibri"/>
              </a:rPr>
              <a:t>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nl-NL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5997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Vlug door de algemene structuur van de website gaan</a:t>
            </a:r>
          </a:p>
          <a:p>
            <a:r>
              <a:rPr lang="nl-BE"/>
              <a:t>(maak referentie naar de demo)</a:t>
            </a:r>
          </a:p>
          <a:p>
            <a:r>
              <a:rPr lang="nl-BE"/>
              <a:t>Leg uit wat dit </a:t>
            </a:r>
            <a:r>
              <a:rPr lang="nl-BE" err="1"/>
              <a:t>tablad</a:t>
            </a:r>
            <a:r>
              <a:rPr lang="nl-BE"/>
              <a:t> is/ doet/ functionaliteiten ervan</a:t>
            </a:r>
            <a:endParaRPr lang="fr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10415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err="1"/>
              <a:t>Mss</a:t>
            </a:r>
            <a:r>
              <a:rPr lang="nl-BE"/>
              <a:t> het moment om </a:t>
            </a:r>
            <a:r>
              <a:rPr lang="nl-BE" err="1"/>
              <a:t>paginatie</a:t>
            </a:r>
            <a:r>
              <a:rPr lang="nl-BE"/>
              <a:t> beetje uit te leggen, redenering waarom we dit hebben toegevoegd en </a:t>
            </a:r>
            <a:r>
              <a:rPr lang="nl-BE" err="1"/>
              <a:t>wrm</a:t>
            </a:r>
            <a:r>
              <a:rPr lang="nl-BE"/>
              <a:t> backend </a:t>
            </a:r>
            <a:r>
              <a:rPr lang="nl-BE" err="1"/>
              <a:t>sorting</a:t>
            </a:r>
            <a:r>
              <a:rPr lang="nl-BE"/>
              <a:t>?</a:t>
            </a:r>
          </a:p>
          <a:p>
            <a:r>
              <a:rPr lang="nl-BE"/>
              <a:t>(kunnen we er nog uitlaten)</a:t>
            </a:r>
            <a:endParaRPr lang="fr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10049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Nog eens kijken welke code we allemaal op deze slide zetten want dit is misschien wat veel?</a:t>
            </a:r>
          </a:p>
          <a:p>
            <a:r>
              <a:rPr lang="nl-BE"/>
              <a:t>Leg het algoritme uitgebreid uit</a:t>
            </a:r>
            <a:endParaRPr lang="fr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0253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/>
              <a:t>Ook hier </a:t>
            </a:r>
            <a:r>
              <a:rPr lang="nl-BE" err="1"/>
              <a:t>vindk</a:t>
            </a:r>
            <a:r>
              <a:rPr lang="nl-BE"/>
              <a:t> lastig om te weten welke code we tonen en welke we niet</a:t>
            </a:r>
          </a:p>
          <a:p>
            <a:r>
              <a:rPr lang="nl-BE"/>
              <a:t>(misschien </a:t>
            </a:r>
            <a:r>
              <a:rPr lang="nl-BE" err="1"/>
              <a:t>gwn</a:t>
            </a:r>
            <a:r>
              <a:rPr lang="nl-BE"/>
              <a:t> best niet teveel code tonen en desnoods </a:t>
            </a:r>
            <a:r>
              <a:rPr lang="nl-BE" err="1"/>
              <a:t>opt</a:t>
            </a:r>
            <a:r>
              <a:rPr lang="nl-BE"/>
              <a:t> einde paar hulp slides maken </a:t>
            </a:r>
            <a:r>
              <a:rPr lang="nl-BE" err="1"/>
              <a:t>ofs</a:t>
            </a:r>
            <a:r>
              <a:rPr lang="nl-BE"/>
              <a:t> vr tijdens de verdediging ma wel </a:t>
            </a:r>
            <a:r>
              <a:rPr lang="nl-BE" err="1"/>
              <a:t>gwn</a:t>
            </a:r>
            <a:r>
              <a:rPr lang="nl-BE"/>
              <a:t> hier uitleggen hoe et werkt)</a:t>
            </a:r>
            <a:endParaRPr lang="fr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D74F04-D5D0-46C1-8271-4CF2806571C0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99285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958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510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3616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367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2705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085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806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288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nl-BE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2906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842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6911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D421DB3-F21B-4320-B846-990BB2DE02C4}" type="datetimeFigureOut">
              <a:rPr lang="nl-BE" smtClean="0"/>
              <a:t>19/12/2025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46D500B-0599-4C0E-9F76-8A39CC290E8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38978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7850C8-8932-45FB-824D-8AB7D8469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8BB4B4-FCCA-4BB8-A5B5-7EDD9652D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E8612A-7C05-D115-7613-4968F9AFF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607" y="1077869"/>
            <a:ext cx="3847930" cy="1651054"/>
          </a:xfrm>
        </p:spPr>
        <p:txBody>
          <a:bodyPr>
            <a:normAutofit fontScale="90000"/>
          </a:bodyPr>
          <a:lstStyle/>
          <a:p>
            <a:r>
              <a:rPr lang="nl-NL" b="1" u="sng"/>
              <a:t>Project: Op </a:t>
            </a:r>
            <a:r>
              <a:rPr lang="nl-NL" b="1" u="sng" err="1"/>
              <a:t>Wielekes</a:t>
            </a:r>
            <a:endParaRPr lang="nl-BE" b="1" u="sng" err="1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3AB9865-E8BC-4A60-C4C7-D1FE061B9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491" y="3475017"/>
            <a:ext cx="3226298" cy="17666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l-BE" sz="1800"/>
              <a:t>Groep 35:</a:t>
            </a:r>
          </a:p>
          <a:p>
            <a:pPr marL="342900" indent="-342900">
              <a:buFont typeface="Calibri" pitchFamily="18" charset="2"/>
              <a:buChar char="-"/>
            </a:pPr>
            <a:r>
              <a:rPr lang="nl-BE" sz="1800"/>
              <a:t>Sophie </a:t>
            </a:r>
            <a:r>
              <a:rPr lang="nl-BE" sz="1800" err="1"/>
              <a:t>Rouseré</a:t>
            </a:r>
            <a:endParaRPr lang="nl-BE" sz="1800"/>
          </a:p>
          <a:p>
            <a:pPr marL="342900" indent="-342900">
              <a:buFont typeface="Calibri" pitchFamily="18" charset="2"/>
              <a:buChar char="-"/>
            </a:pPr>
            <a:r>
              <a:rPr lang="nl-BE" sz="1800"/>
              <a:t>Dag Pieters</a:t>
            </a:r>
          </a:p>
          <a:p>
            <a:pPr marL="342900" indent="-342900">
              <a:buFont typeface="Calibri" pitchFamily="18" charset="2"/>
              <a:buChar char="-"/>
            </a:pPr>
            <a:r>
              <a:rPr lang="nl-BE" sz="1800"/>
              <a:t>Axelle </a:t>
            </a:r>
            <a:r>
              <a:rPr lang="nl-BE" sz="1800" err="1"/>
              <a:t>Thenaers</a:t>
            </a:r>
            <a:endParaRPr lang="nl-BE" sz="1800"/>
          </a:p>
          <a:p>
            <a:pPr marL="342900" indent="-342900">
              <a:buFont typeface="Calibri" pitchFamily="18" charset="2"/>
              <a:buChar char="-"/>
            </a:pPr>
            <a:r>
              <a:rPr lang="nl-BE" sz="1800"/>
              <a:t>Klaas </a:t>
            </a:r>
            <a:r>
              <a:rPr lang="nl-BE" sz="1800" err="1"/>
              <a:t>D'haen</a:t>
            </a:r>
            <a:endParaRPr lang="nl-BE" sz="1800"/>
          </a:p>
          <a:p>
            <a:pPr marL="342900" indent="-342900">
              <a:buFont typeface="Calibri" pitchFamily="18" charset="2"/>
              <a:buChar char="-"/>
            </a:pPr>
            <a:r>
              <a:rPr lang="nl-BE" sz="1800"/>
              <a:t>Maxim De </a:t>
            </a:r>
            <a:r>
              <a:rPr lang="nl-BE" sz="1800" err="1"/>
              <a:t>Waele</a:t>
            </a:r>
            <a:endParaRPr lang="nl-BE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AD000C-FECC-4415-AB14-16AC3974C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2727" y="758952"/>
            <a:ext cx="3379859" cy="3191490"/>
          </a:xfrm>
          <a:prstGeom prst="rect">
            <a:avLst/>
          </a:prstGeom>
          <a:solidFill>
            <a:srgbClr val="FFFFFF"/>
          </a:solidFill>
          <a:ln w="66675" cmpd="sng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Lettertype, logo, Graphics, symbool&#10;&#10;Door AI gegenereerde inhoud is mogelijk onjuist.">
            <a:extLst>
              <a:ext uri="{FF2B5EF4-FFF2-40B4-BE49-F238E27FC236}">
                <a16:creationId xmlns:a16="http://schemas.microsoft.com/office/drawing/2014/main" id="{4AAFD6CA-3BE1-2828-F0DF-439303941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533" y="1787744"/>
            <a:ext cx="3054096" cy="11339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4A9CF7B-6D34-42D7-9614-7AA889926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38608" y="758952"/>
            <a:ext cx="2849303" cy="18309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6CCAB5-616C-4A33-8256-D740D31FA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0640" y="4090151"/>
            <a:ext cx="3371946" cy="19997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72A6C1-76CF-4215-B818-52CFF4D7A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38608" y="2722807"/>
            <a:ext cx="2849303" cy="3367097"/>
          </a:xfrm>
          <a:prstGeom prst="rect">
            <a:avLst/>
          </a:prstGeom>
          <a:solidFill>
            <a:srgbClr val="FFFFFF"/>
          </a:solidFill>
          <a:ln w="66675" cmpd="sng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Afbeelding 6" descr="Afbeelding met wiel, fiets, transport, band&#10;&#10;Door AI gegenereerde inhoud is mogelijk onjuist.">
            <a:extLst>
              <a:ext uri="{FF2B5EF4-FFF2-40B4-BE49-F238E27FC236}">
                <a16:creationId xmlns:a16="http://schemas.microsoft.com/office/drawing/2014/main" id="{B4E94300-E05C-6AF6-2626-2B09EC363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387" y="3565436"/>
            <a:ext cx="2523744" cy="168183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1CE9D6-3D74-4540-A98B-232824586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632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1981F-EC84-1B44-C9B9-F5D907C54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u="sng"/>
              <a:t>Wat is Op </a:t>
            </a:r>
            <a:r>
              <a:rPr lang="nl-NL" b="1" u="sng" err="1"/>
              <a:t>Wielekes</a:t>
            </a:r>
            <a:r>
              <a:rPr lang="nl-NL" b="1" u="sng"/>
              <a:t>?</a:t>
            </a:r>
            <a:endParaRPr lang="nl-BE" b="1" u="sng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546F51-0D49-AEA2-D0DE-63CE7128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594" y="869825"/>
            <a:ext cx="8087776" cy="4615307"/>
          </a:xfrm>
        </p:spPr>
        <p:txBody>
          <a:bodyPr>
            <a:normAutofit lnSpcReduction="10000"/>
          </a:bodyPr>
          <a:lstStyle/>
          <a:p>
            <a:pPr>
              <a:buFont typeface="Calibri" panose="05000000000000000000" pitchFamily="2" charset="2"/>
              <a:buChar char="-"/>
            </a:pPr>
            <a:endParaRPr lang="nl-NL"/>
          </a:p>
          <a:p>
            <a:pPr>
              <a:buFont typeface="Calibri" panose="05000000000000000000" pitchFamily="2" charset="2"/>
              <a:buChar char="-"/>
            </a:pPr>
            <a:endParaRPr lang="nl-NL"/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 Een fietsdeeldienst en "bibliotheek" voor kinderfietsen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 Kies een fiets die past bij de leeftijd en maat van je kind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 Zodra je kind er uitgegroeid is, fiets ruilen voor groter model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Budgetvriendelijk en flexibel systeem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 Doel: verspilling tegengaan, duurzame mobiliteit promoten en gezinnen ontlasten (tegen relatief kleine lidmaatschap)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Lokale depots in verschillende gemeenten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Applicatie wordt gebruikt in magazijnen om verhuren te registreren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Sociaal + ecologisch doel</a:t>
            </a:r>
          </a:p>
          <a:p>
            <a:pPr>
              <a:buFont typeface="Calibri" panose="05000000000000000000" pitchFamily="2" charset="2"/>
              <a:buChar char="-"/>
            </a:pPr>
            <a:r>
              <a:rPr lang="nl-NL"/>
              <a:t>Circulaire economie</a:t>
            </a:r>
          </a:p>
          <a:p>
            <a:pPr>
              <a:buFont typeface="Calibri" panose="05000000000000000000" pitchFamily="2" charset="2"/>
              <a:buChar char="-"/>
            </a:pPr>
            <a:endParaRPr lang="nl-NL"/>
          </a:p>
          <a:p>
            <a:pPr>
              <a:buFont typeface="Calibri" panose="05000000000000000000" pitchFamily="2" charset="2"/>
              <a:buChar char="-"/>
            </a:pPr>
            <a:endParaRPr lang="nl-NL"/>
          </a:p>
          <a:p>
            <a:pPr>
              <a:buFont typeface="Calibri" panose="05000000000000000000" pitchFamily="2" charset="2"/>
              <a:buChar char="-"/>
            </a:pPr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B4AA598-60E7-0708-1891-B07E68F40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872" y="4733815"/>
            <a:ext cx="3912160" cy="212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57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B20F6E-D437-C16E-2686-A497E7CE7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3096277" y="740720"/>
            <a:ext cx="4945172" cy="65552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1F751BA-9D44-5B3C-2ACA-13452F4F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b="1" u="sng"/>
              <a:t>Database</a:t>
            </a:r>
          </a:p>
        </p:txBody>
      </p:sp>
      <p:pic>
        <p:nvPicPr>
          <p:cNvPr id="4" name="Tijdelijke aanduiding voor inhoud 3" descr="Supabase logo in PNG and vector formats (SVG, EPS)">
            <a:extLst>
              <a:ext uri="{FF2B5EF4-FFF2-40B4-BE49-F238E27FC236}">
                <a16:creationId xmlns:a16="http://schemas.microsoft.com/office/drawing/2014/main" id="{B7BBBB24-12A4-D87F-81AF-8CAC9B90B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41111" y="136813"/>
            <a:ext cx="3195234" cy="620917"/>
          </a:xfrm>
          <a:prstGeom prst="rect">
            <a:avLst/>
          </a:prstGeom>
        </p:spPr>
      </p:pic>
      <p:pic>
        <p:nvPicPr>
          <p:cNvPr id="7" name="Afbeelding 6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8EF6EC51-B8D4-2835-6E20-073A479405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841"/>
          <a:stretch>
            <a:fillRect/>
          </a:stretch>
        </p:blipFill>
        <p:spPr>
          <a:xfrm>
            <a:off x="8723318" y="761002"/>
            <a:ext cx="3440400" cy="2507366"/>
          </a:xfrm>
          <a:prstGeom prst="rect">
            <a:avLst/>
          </a:prstGeom>
        </p:spPr>
      </p:pic>
      <p:pic>
        <p:nvPicPr>
          <p:cNvPr id="10" name="Afbeelding 9" descr="Afbeelding met cirkel, ruimte, Kleurrijkheid&#10;&#10;Door AI gegenereerde inhoud is mogelijk onjuist.">
            <a:extLst>
              <a:ext uri="{FF2B5EF4-FFF2-40B4-BE49-F238E27FC236}">
                <a16:creationId xmlns:a16="http://schemas.microsoft.com/office/drawing/2014/main" id="{43C8F499-5120-5380-52F6-ECE460953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8691" y="2196230"/>
            <a:ext cx="1891665" cy="2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7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30">
            <a:extLst>
              <a:ext uri="{FF2B5EF4-FFF2-40B4-BE49-F238E27FC236}">
                <a16:creationId xmlns:a16="http://schemas.microsoft.com/office/drawing/2014/main" id="{47BA6B54-FD0C-4B20-816F-3B6BEEA1D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32">
            <a:extLst>
              <a:ext uri="{FF2B5EF4-FFF2-40B4-BE49-F238E27FC236}">
                <a16:creationId xmlns:a16="http://schemas.microsoft.com/office/drawing/2014/main" id="{CE90C7AB-40E9-481F-980A-EDD19EFF3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5608255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080C15-C578-D14C-368D-63957485D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123837"/>
            <a:ext cx="4998963" cy="1255469"/>
          </a:xfrm>
        </p:spPr>
        <p:txBody>
          <a:bodyPr>
            <a:normAutofit/>
          </a:bodyPr>
          <a:lstStyle/>
          <a:p>
            <a:r>
              <a:rPr lang="nl-BE" b="1" u="sng" err="1"/>
              <a:t>VSCode</a:t>
            </a:r>
            <a:r>
              <a:rPr lang="nl-BE" b="1" u="sng"/>
              <a:t> opmaak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9C2BFCC-EB54-4437-7174-B4D11E05C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998962" cy="3274586"/>
          </a:xfrm>
        </p:spPr>
        <p:txBody>
          <a:bodyPr anchor="t">
            <a:normAutofit/>
          </a:bodyPr>
          <a:lstStyle/>
          <a:p>
            <a:pPr>
              <a:buFont typeface="Calibri" pitchFamily="18" charset="2"/>
              <a:buChar char="-"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MVC-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structuur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(models, routes/controllers, templates)</a:t>
            </a:r>
            <a:endParaRPr lang="en-US">
              <a:solidFill>
                <a:srgbClr val="FFFFFF"/>
              </a:solidFill>
            </a:endParaRPr>
          </a:p>
          <a:p>
            <a:pPr>
              <a:buFont typeface="Calibri" pitchFamily="18" charset="2"/>
              <a:buChar char="-"/>
            </a:pP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HTML-templates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opgebouwd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met Jinja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binnen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Flask</a:t>
            </a:r>
            <a:endParaRPr lang="en-US">
              <a:solidFill>
                <a:srgbClr val="FFFFFF"/>
              </a:solidFill>
            </a:endParaRPr>
          </a:p>
          <a:p>
            <a:pPr>
              <a:buFont typeface="Calibri" pitchFamily="18" charset="2"/>
              <a:buChar char="-"/>
            </a:pP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Statische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bestanden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(CSS/JS)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beheerd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via </a:t>
            </a:r>
            <a:r>
              <a:rPr lang="en-US">
                <a:solidFill>
                  <a:srgbClr val="FFFFFF"/>
                </a:solidFill>
                <a:latin typeface="Corbel"/>
              </a:rPr>
              <a:t>/static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voor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uniforme</a:t>
            </a:r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rgbClr val="FFFFFF"/>
                </a:solidFill>
                <a:ea typeface="+mn-lt"/>
                <a:cs typeface="+mn-lt"/>
              </a:rPr>
              <a:t>opmaak</a:t>
            </a:r>
            <a:endParaRPr lang="en-US">
              <a:solidFill>
                <a:srgbClr val="FFFFFF"/>
              </a:solidFill>
            </a:endParaRPr>
          </a:p>
          <a:p>
            <a:pPr>
              <a:buFont typeface="Calibri" pitchFamily="18" charset="2"/>
              <a:buChar char="-"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1" name="Rectangle 34">
            <a:extLst>
              <a:ext uri="{FF2B5EF4-FFF2-40B4-BE49-F238E27FC236}">
                <a16:creationId xmlns:a16="http://schemas.microsoft.com/office/drawing/2014/main" id="{23ADD3AA-6CC0-4B1A-B4A3-98AD78A1E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839" y="758952"/>
            <a:ext cx="2842930" cy="3191490"/>
          </a:xfrm>
          <a:prstGeom prst="rect">
            <a:avLst/>
          </a:prstGeom>
          <a:solidFill>
            <a:srgbClr val="FFFFFF"/>
          </a:solidFill>
          <a:ln w="66675" cmpd="sng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Afbeelding 12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E33267F4-EC95-16BD-D8B0-CB13E8186E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19" r="87" b="757"/>
          <a:stretch>
            <a:fillRect/>
          </a:stretch>
        </p:blipFill>
        <p:spPr>
          <a:xfrm>
            <a:off x="6229845" y="1123837"/>
            <a:ext cx="2568918" cy="2483870"/>
          </a:xfrm>
          <a:prstGeom prst="rect">
            <a:avLst/>
          </a:prstGeom>
        </p:spPr>
      </p:pic>
      <p:sp>
        <p:nvSpPr>
          <p:cNvPr id="52" name="Rectangle 36">
            <a:extLst>
              <a:ext uri="{FF2B5EF4-FFF2-40B4-BE49-F238E27FC236}">
                <a16:creationId xmlns:a16="http://schemas.microsoft.com/office/drawing/2014/main" id="{BC834C09-A316-497B-9771-15920104D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1252" y="758952"/>
            <a:ext cx="2396659" cy="1844767"/>
          </a:xfrm>
          <a:prstGeom prst="rect">
            <a:avLst/>
          </a:prstGeom>
          <a:solidFill>
            <a:srgbClr val="FFFFFF"/>
          </a:solidFill>
          <a:ln w="66675" cmpd="sng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ijdelijke aanduiding voor inhoud 3" descr="Afbeelding met Elektrisch blauw, symbool, lijn, Rechthoek&#10;&#10;Door AI gegenereerde inhoud is mogelijk onjuist.">
            <a:extLst>
              <a:ext uri="{FF2B5EF4-FFF2-40B4-BE49-F238E27FC236}">
                <a16:creationId xmlns:a16="http://schemas.microsoft.com/office/drawing/2014/main" id="{181EE257-604F-7177-955F-1ED49B2915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00" r="2" b="2"/>
          <a:stretch>
            <a:fillRect/>
          </a:stretch>
        </p:blipFill>
        <p:spPr>
          <a:xfrm>
            <a:off x="9611227" y="926592"/>
            <a:ext cx="1356709" cy="1529769"/>
          </a:xfrm>
          <a:prstGeom prst="rect">
            <a:avLst/>
          </a:prstGeom>
        </p:spPr>
      </p:pic>
      <p:sp>
        <p:nvSpPr>
          <p:cNvPr id="53" name="Rectangle 38">
            <a:extLst>
              <a:ext uri="{FF2B5EF4-FFF2-40B4-BE49-F238E27FC236}">
                <a16:creationId xmlns:a16="http://schemas.microsoft.com/office/drawing/2014/main" id="{4AC7689F-BE25-443E-B15D-45268CC4A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839" y="4115150"/>
            <a:ext cx="2842930" cy="1983897"/>
          </a:xfrm>
          <a:prstGeom prst="rect">
            <a:avLst/>
          </a:prstGeom>
          <a:solidFill>
            <a:srgbClr val="FFFFFF"/>
          </a:solidFill>
          <a:ln w="66675" cmpd="sng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Afbeelding 16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0DEB68AC-4C00-0792-3C1C-E327FDD209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845" y="4508364"/>
            <a:ext cx="2568918" cy="12073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5296173E-160F-42EA-B0C9-8E2804C9A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1252" y="2722807"/>
            <a:ext cx="2396659" cy="3367097"/>
          </a:xfrm>
          <a:prstGeom prst="rect">
            <a:avLst/>
          </a:prstGeom>
          <a:solidFill>
            <a:srgbClr val="FFFFFF"/>
          </a:solidFill>
          <a:ln w="66675" cmpd="sng">
            <a:solidFill>
              <a:schemeClr val="bg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Afbeelding 10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381AE9F3-CCDA-CB53-5778-150BE91753B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813" b="3267"/>
          <a:stretch>
            <a:fillRect/>
          </a:stretch>
        </p:blipFill>
        <p:spPr>
          <a:xfrm>
            <a:off x="9228172" y="3417961"/>
            <a:ext cx="2122819" cy="1976788"/>
          </a:xfrm>
          <a:prstGeom prst="rect">
            <a:avLst/>
          </a:prstGeom>
        </p:spPr>
      </p:pic>
      <p:sp>
        <p:nvSpPr>
          <p:cNvPr id="55" name="Rectangle 42">
            <a:extLst>
              <a:ext uri="{FF2B5EF4-FFF2-40B4-BE49-F238E27FC236}">
                <a16:creationId xmlns:a16="http://schemas.microsoft.com/office/drawing/2014/main" id="{85FD8413-571F-456D-BB62-4C204826E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74389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17C8F6-D357-4254-BBAC-96B01EEBE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47203"/>
            <a:ext cx="11707367" cy="2572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0684FF-0DBF-3E73-65BE-C1235D62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91" y="4049486"/>
            <a:ext cx="4825480" cy="1883228"/>
          </a:xfrm>
        </p:spPr>
        <p:txBody>
          <a:bodyPr>
            <a:normAutofit/>
          </a:bodyPr>
          <a:lstStyle/>
          <a:p>
            <a:pPr algn="r"/>
            <a:r>
              <a:rPr lang="nl-BE" sz="4400" b="1" u="sng"/>
              <a:t>Login</a:t>
            </a:r>
          </a:p>
        </p:txBody>
      </p:sp>
      <p:pic>
        <p:nvPicPr>
          <p:cNvPr id="4" name="Tijdelijke aanduiding voor inhoud 3" descr="Afbeelding met tekst, schermopname, software, Besturingssysteem&#10;&#10;Door AI gegenereerde inhoud is mogelijk onjuist.">
            <a:extLst>
              <a:ext uri="{FF2B5EF4-FFF2-40B4-BE49-F238E27FC236}">
                <a16:creationId xmlns:a16="http://schemas.microsoft.com/office/drawing/2014/main" id="{F1B4941C-7E4A-64A0-3F58-E390D58FA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91" y="955186"/>
            <a:ext cx="4789994" cy="2083647"/>
          </a:xfrm>
          <a:prstGeom prst="rect">
            <a:avLst/>
          </a:prstGeom>
        </p:spPr>
      </p:pic>
      <p:pic>
        <p:nvPicPr>
          <p:cNvPr id="6" name="Afbeelding 5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F3BEE389-002E-F7CA-2598-88103FBE8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316" y="633927"/>
            <a:ext cx="4700284" cy="2726165"/>
          </a:xfrm>
          <a:prstGeom prst="rect">
            <a:avLst/>
          </a:prstGeom>
        </p:spPr>
      </p:pic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987CE97B-C8B5-9D23-68D2-78FE38134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316" y="4049485"/>
            <a:ext cx="4846151" cy="1883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-</a:t>
            </a:r>
            <a:r>
              <a:rPr lang="en-US" err="1"/>
              <a:t>Financieel</a:t>
            </a:r>
            <a:r>
              <a:rPr lang="en-US"/>
              <a:t> </a:t>
            </a:r>
            <a:r>
              <a:rPr lang="en-US" err="1"/>
              <a:t>medewerker</a:t>
            </a:r>
            <a:r>
              <a:rPr lang="en-US"/>
              <a:t> </a:t>
            </a:r>
            <a:r>
              <a:rPr lang="en-US" err="1"/>
              <a:t>heeft</a:t>
            </a:r>
            <a:r>
              <a:rPr lang="en-US"/>
              <a:t> </a:t>
            </a:r>
            <a:r>
              <a:rPr lang="en-US" err="1"/>
              <a:t>toegang</a:t>
            </a:r>
            <a:r>
              <a:rPr lang="en-US"/>
              <a:t> tot </a:t>
            </a:r>
            <a:r>
              <a:rPr lang="en-US" u="sng" err="1"/>
              <a:t>alles</a:t>
            </a:r>
            <a:r>
              <a:rPr lang="en-US"/>
              <a:t>!</a:t>
            </a:r>
          </a:p>
          <a:p>
            <a:pPr marL="0" indent="0">
              <a:buNone/>
            </a:pPr>
            <a:r>
              <a:rPr lang="en-US"/>
              <a:t>-</a:t>
            </a:r>
            <a:r>
              <a:rPr lang="en-US" err="1"/>
              <a:t>Depotmedewerker</a:t>
            </a:r>
            <a:r>
              <a:rPr lang="en-US"/>
              <a:t> </a:t>
            </a:r>
            <a:r>
              <a:rPr lang="en-US" err="1"/>
              <a:t>toegang</a:t>
            </a:r>
            <a:r>
              <a:rPr lang="en-US"/>
              <a:t> tot </a:t>
            </a:r>
            <a:r>
              <a:rPr lang="en-US" err="1"/>
              <a:t>alles</a:t>
            </a:r>
            <a:r>
              <a:rPr lang="en-US"/>
              <a:t> </a:t>
            </a:r>
            <a:r>
              <a:rPr lang="en-US" u="sng" err="1"/>
              <a:t>behalve</a:t>
            </a:r>
            <a:r>
              <a:rPr lang="en-US" u="sng"/>
              <a:t> </a:t>
            </a:r>
            <a:r>
              <a:rPr lang="en-US"/>
              <a:t>tot het </a:t>
            </a:r>
            <a:r>
              <a:rPr lang="en-US" err="1"/>
              <a:t>financiële</a:t>
            </a:r>
            <a:r>
              <a:rPr lang="en-US"/>
              <a:t> tab</a:t>
            </a:r>
          </a:p>
        </p:txBody>
      </p:sp>
    </p:spTree>
    <p:extLst>
      <p:ext uri="{BB962C8B-B14F-4D97-AF65-F5344CB8AC3E}">
        <p14:creationId xmlns:p14="http://schemas.microsoft.com/office/powerpoint/2010/main" val="250208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7BB40E-C8E2-2EB0-80EF-82FAA0B5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1298448"/>
            <a:ext cx="3258688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b="1" u="sng" spc="-100" err="1"/>
              <a:t>Klanten</a:t>
            </a:r>
            <a:endParaRPr lang="en-US" sz="5900" b="1" u="sng" spc="-100"/>
          </a:p>
        </p:txBody>
      </p:sp>
      <p:pic>
        <p:nvPicPr>
          <p:cNvPr id="5" name="Tijdelijke aanduiding voor inhoud 4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ACBD94D6-2C40-5644-14C4-FCBFA04E1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1721679"/>
            <a:ext cx="6367271" cy="340648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pic>
        <p:nvPicPr>
          <p:cNvPr id="9" name="Afbeelding 8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823F6AAF-6E83-632E-EC98-722219FA5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505" y="437799"/>
            <a:ext cx="1865647" cy="2165797"/>
          </a:xfrm>
          <a:prstGeom prst="rect">
            <a:avLst/>
          </a:prstGeom>
        </p:spPr>
      </p:pic>
      <p:pic>
        <p:nvPicPr>
          <p:cNvPr id="13" name="Afbeelding 12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9F318669-5809-F4A9-9969-2780CAB54C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377" y="174690"/>
            <a:ext cx="1160338" cy="1569978"/>
          </a:xfrm>
          <a:prstGeom prst="rect">
            <a:avLst/>
          </a:prstGeom>
        </p:spPr>
      </p:pic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509A3338-FF0B-DA53-7998-FD38E4637448}"/>
              </a:ext>
            </a:extLst>
          </p:cNvPr>
          <p:cNvCxnSpPr/>
          <p:nvPr/>
        </p:nvCxnSpPr>
        <p:spPr>
          <a:xfrm flipV="1">
            <a:off x="7021286" y="1298448"/>
            <a:ext cx="892628" cy="1305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59830C21-FD7C-9DEA-DADB-C324358E2E35}"/>
              </a:ext>
            </a:extLst>
          </p:cNvPr>
          <p:cNvCxnSpPr/>
          <p:nvPr/>
        </p:nvCxnSpPr>
        <p:spPr>
          <a:xfrm flipH="1" flipV="1">
            <a:off x="10424160" y="2368296"/>
            <a:ext cx="457200" cy="115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87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23567-5D6C-F021-5175-E52C3018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b="1" u="sng"/>
              <a:t>Verhuur</a:t>
            </a:r>
            <a:endParaRPr lang="fr-BE" b="1" u="sng"/>
          </a:p>
        </p:txBody>
      </p:sp>
      <p:pic>
        <p:nvPicPr>
          <p:cNvPr id="5" name="Tijdelijke aanduiding voor inhoud 4" descr="Afbeelding met tekst, schermopname, software, nummer&#10;&#10;Door AI gegenereerde inhoud is mogelijk onjuist.">
            <a:extLst>
              <a:ext uri="{FF2B5EF4-FFF2-40B4-BE49-F238E27FC236}">
                <a16:creationId xmlns:a16="http://schemas.microsoft.com/office/drawing/2014/main" id="{32899C1F-4E19-CE8D-FDAC-B88478E07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567" y="1451789"/>
            <a:ext cx="7315200" cy="3811766"/>
          </a:xfrm>
        </p:spPr>
      </p:pic>
      <p:pic>
        <p:nvPicPr>
          <p:cNvPr id="7" name="Afbeelding 6" descr="Afbeelding met tekst, elektronica, schermopname, nummer&#10;&#10;Door AI gegenereerde inhoud is mogelijk onjuist.">
            <a:extLst>
              <a:ext uri="{FF2B5EF4-FFF2-40B4-BE49-F238E27FC236}">
                <a16:creationId xmlns:a16="http://schemas.microsoft.com/office/drawing/2014/main" id="{4FF4FFE1-A16D-61A2-CBC0-D1FCC545E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794" y="180630"/>
            <a:ext cx="1788989" cy="2006951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EF11E257-C6C7-62CB-CBBF-E113F8556F3D}"/>
              </a:ext>
            </a:extLst>
          </p:cNvPr>
          <p:cNvCxnSpPr/>
          <p:nvPr/>
        </p:nvCxnSpPr>
        <p:spPr>
          <a:xfrm flipV="1">
            <a:off x="5946087" y="1413817"/>
            <a:ext cx="968829" cy="83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Afbeelding 10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96394671-BA82-3503-F075-F2697AEE2F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4152909"/>
            <a:ext cx="1494741" cy="2032657"/>
          </a:xfrm>
          <a:prstGeom prst="rect">
            <a:avLst/>
          </a:prstGeom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31B1DDE9-EB62-1390-5306-25AF4EC2C46A}"/>
              </a:ext>
            </a:extLst>
          </p:cNvPr>
          <p:cNvCxnSpPr>
            <a:cxnSpLocks/>
          </p:cNvCxnSpPr>
          <p:nvPr/>
        </p:nvCxnSpPr>
        <p:spPr>
          <a:xfrm flipH="1">
            <a:off x="4471416" y="3675888"/>
            <a:ext cx="2538378" cy="1399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Afbeelding 14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3054D49F-17D2-FA1B-AF99-8472C469BD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908" y="274917"/>
            <a:ext cx="2107583" cy="1503520"/>
          </a:xfrm>
          <a:prstGeom prst="rect">
            <a:avLst/>
          </a:prstGeom>
        </p:spPr>
      </p:pic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056D00A9-5690-DCFC-8C4C-B8E212D17F4A}"/>
              </a:ext>
            </a:extLst>
          </p:cNvPr>
          <p:cNvCxnSpPr/>
          <p:nvPr/>
        </p:nvCxnSpPr>
        <p:spPr>
          <a:xfrm flipV="1">
            <a:off x="10446277" y="1830297"/>
            <a:ext cx="658368" cy="1554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Afbeelding 20" descr="Afbeelding met tekst, schermopname, Lettertype, logo&#10;&#10;Door AI gegenereerde inhoud is mogelijk onjuist.">
            <a:extLst>
              <a:ext uri="{FF2B5EF4-FFF2-40B4-BE49-F238E27FC236}">
                <a16:creationId xmlns:a16="http://schemas.microsoft.com/office/drawing/2014/main" id="{037335DE-7C99-81EE-122E-871F8D97CD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167" y="5713428"/>
            <a:ext cx="2701997" cy="869655"/>
          </a:xfrm>
          <a:prstGeom prst="rect">
            <a:avLst/>
          </a:prstGeom>
        </p:spPr>
      </p:pic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2287FDA5-914C-A614-648F-8894EFFEA399}"/>
              </a:ext>
            </a:extLst>
          </p:cNvPr>
          <p:cNvCxnSpPr/>
          <p:nvPr/>
        </p:nvCxnSpPr>
        <p:spPr>
          <a:xfrm flipH="1">
            <a:off x="9464040" y="4375404"/>
            <a:ext cx="301752" cy="161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996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F0797-3E68-6558-4E50-BE368AAD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b="1" u="sng"/>
              <a:t>Financieel</a:t>
            </a:r>
            <a:endParaRPr lang="fr-BE" b="1" u="sng"/>
          </a:p>
        </p:txBody>
      </p:sp>
      <p:pic>
        <p:nvPicPr>
          <p:cNvPr id="5" name="Tijdelijke aanduiding voor inhoud 4" descr="Afbeelding met tekst, schermopname, software, Computerpictogram&#10;&#10;Door AI gegenereerde inhoud is mogelijk onjuist.">
            <a:extLst>
              <a:ext uri="{FF2B5EF4-FFF2-40B4-BE49-F238E27FC236}">
                <a16:creationId xmlns:a16="http://schemas.microsoft.com/office/drawing/2014/main" id="{B9CB7667-33E1-4FCA-27CB-87367DB6F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738" y="1514348"/>
            <a:ext cx="7315200" cy="3819778"/>
          </a:xfrm>
        </p:spPr>
      </p:pic>
      <p:pic>
        <p:nvPicPr>
          <p:cNvPr id="7" name="Afbeelding 6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97800015-8E62-CBE7-BD24-B31333B25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854" y="4792873"/>
            <a:ext cx="4358530" cy="1882580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C937EE95-3D87-CC19-8D9A-00EF3FF9C5C5}"/>
              </a:ext>
            </a:extLst>
          </p:cNvPr>
          <p:cNvCxnSpPr/>
          <p:nvPr/>
        </p:nvCxnSpPr>
        <p:spPr>
          <a:xfrm flipH="1">
            <a:off x="5699342" y="4985359"/>
            <a:ext cx="1916483" cy="74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654D116A-6330-212A-828B-965245BF20ED}"/>
              </a:ext>
            </a:extLst>
          </p:cNvPr>
          <p:cNvCxnSpPr/>
          <p:nvPr/>
        </p:nvCxnSpPr>
        <p:spPr>
          <a:xfrm flipV="1">
            <a:off x="6200384" y="1878904"/>
            <a:ext cx="1114816" cy="751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Afbeelding 14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24D72A85-DFEC-BFB1-A4B6-0B6C73C3CB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374" y="198073"/>
            <a:ext cx="1829887" cy="245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98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2000"/>
            <a:ext cx="4053525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E89DFE-20F2-F89A-3638-5B8584BA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616348" cy="1322637"/>
          </a:xfrm>
        </p:spPr>
        <p:txBody>
          <a:bodyPr>
            <a:normAutofit/>
          </a:bodyPr>
          <a:lstStyle/>
          <a:p>
            <a:r>
              <a:rPr lang="nl-BE" b="1" u="sng"/>
              <a:t>Algoritme </a:t>
            </a:r>
            <a:endParaRPr lang="fr-BE" b="1" u="sng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454A645-7F01-7624-8A4E-23026A3CD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78" y="2199143"/>
            <a:ext cx="3616348" cy="3386883"/>
          </a:xfrm>
        </p:spPr>
        <p:txBody>
          <a:bodyPr anchor="t">
            <a:normAutofit/>
          </a:bodyPr>
          <a:lstStyle/>
          <a:p>
            <a:pPr>
              <a:buFont typeface="Calibri" pitchFamily="18" charset="2"/>
              <a:buChar char="-"/>
            </a:pPr>
            <a:r>
              <a:rPr lang="en-US">
                <a:solidFill>
                  <a:srgbClr val="FFFFFF"/>
                </a:solidFill>
              </a:rPr>
              <a:t>-</a:t>
            </a:r>
            <a:r>
              <a:rPr lang="en-US" err="1">
                <a:solidFill>
                  <a:srgbClr val="FFFFFF"/>
                </a:solidFill>
              </a:rPr>
              <a:t>Geeft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een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voorgestelde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fiets</a:t>
            </a:r>
            <a:r>
              <a:rPr lang="en-US">
                <a:solidFill>
                  <a:srgbClr val="FFFFFF"/>
                </a:solidFill>
              </a:rPr>
              <a:t> op basis van de </a:t>
            </a:r>
            <a:r>
              <a:rPr lang="en-US" err="1">
                <a:solidFill>
                  <a:srgbClr val="FFFFFF"/>
                </a:solidFill>
              </a:rPr>
              <a:t>leeftijd</a:t>
            </a:r>
            <a:r>
              <a:rPr lang="en-US">
                <a:solidFill>
                  <a:srgbClr val="FFFFFF"/>
                </a:solidFill>
              </a:rPr>
              <a:t> van het kind </a:t>
            </a:r>
            <a:endParaRPr lang="en-US">
              <a:solidFill>
                <a:srgbClr val="595959"/>
              </a:solidFill>
            </a:endParaRPr>
          </a:p>
          <a:p>
            <a:pPr>
              <a:buFont typeface="Calibri" pitchFamily="18" charset="2"/>
              <a:buChar char="-"/>
            </a:pPr>
            <a:r>
              <a:rPr lang="en-US">
                <a:solidFill>
                  <a:srgbClr val="FFFFFF"/>
                </a:solidFill>
              </a:rPr>
              <a:t>-Ook de </a:t>
            </a:r>
            <a:r>
              <a:rPr lang="en-US" err="1">
                <a:solidFill>
                  <a:srgbClr val="FFFFFF"/>
                </a:solidFill>
              </a:rPr>
              <a:t>tweede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beste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optie</a:t>
            </a:r>
            <a:r>
              <a:rPr lang="en-US">
                <a:solidFill>
                  <a:srgbClr val="FFFFFF"/>
                </a:solidFill>
              </a:rPr>
              <a:t>, </a:t>
            </a:r>
            <a:r>
              <a:rPr lang="en-US" err="1">
                <a:solidFill>
                  <a:srgbClr val="FFFFFF"/>
                </a:solidFill>
              </a:rPr>
              <a:t>indien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beschikbaar</a:t>
            </a:r>
          </a:p>
          <a:p>
            <a:pPr>
              <a:buFont typeface="Calibri" pitchFamily="18" charset="2"/>
              <a:buChar char="-"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Tijdelijke aanduiding voor inhoud 4" descr="Afbeelding met tekst, schermopname, Lettertype, software&#10;&#10;Door AI gegenereerde inhoud is mogelijk onjuist.">
            <a:extLst>
              <a:ext uri="{FF2B5EF4-FFF2-40B4-BE49-F238E27FC236}">
                <a16:creationId xmlns:a16="http://schemas.microsoft.com/office/drawing/2014/main" id="{3A7198B7-E399-F62B-21EE-679655D1E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63" y="1261196"/>
            <a:ext cx="3435968" cy="43356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2756AB-4937-D557-5B20-9D79816FA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908" y="1261241"/>
            <a:ext cx="3763907" cy="431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19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2000"/>
            <a:ext cx="4053525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D567E8-2094-9C81-FE4A-E288F687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616348" cy="1322637"/>
          </a:xfrm>
        </p:spPr>
        <p:txBody>
          <a:bodyPr>
            <a:normAutofit/>
          </a:bodyPr>
          <a:lstStyle/>
          <a:p>
            <a:r>
              <a:rPr lang="nl-BE" b="1" u="sng"/>
              <a:t>Voorspelling algoritme</a:t>
            </a:r>
            <a:endParaRPr lang="fr-BE" b="1" u="sng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1D1A06B-AFB9-F41B-9382-0D2EFF450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597864"/>
            <a:ext cx="3616348" cy="3386883"/>
          </a:xfrm>
        </p:spPr>
        <p:txBody>
          <a:bodyPr anchor="t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Afbeelding 6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670C61E2-3061-A4D3-0B37-EBB3FE324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781" y="756938"/>
            <a:ext cx="4949530" cy="1390043"/>
          </a:xfrm>
          <a:prstGeom prst="rect">
            <a:avLst/>
          </a:prstGeom>
        </p:spPr>
      </p:pic>
      <p:pic>
        <p:nvPicPr>
          <p:cNvPr id="5" name="Tijdelijke aanduiding voor inhoud 4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62EE22FA-4210-DB45-1091-71FCC5812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2" y="2440112"/>
            <a:ext cx="6217507" cy="4109263"/>
          </a:xfrm>
          <a:prstGeom prst="rect">
            <a:avLst/>
          </a:prstGeom>
        </p:spPr>
      </p:pic>
      <p:pic>
        <p:nvPicPr>
          <p:cNvPr id="9" name="Afbeelding 8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90D600D8-D088-6A3D-13DB-A4AEB4C55E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602" y="2143370"/>
            <a:ext cx="4730322" cy="327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1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04CA2A-C303-EC88-0965-B9D9EE320134}"/>
              </a:ext>
            </a:extLst>
          </p:cNvPr>
          <p:cNvSpPr txBox="1"/>
          <p:nvPr/>
        </p:nvSpPr>
        <p:spPr>
          <a:xfrm>
            <a:off x="166687" y="583406"/>
            <a:ext cx="15835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u="sng">
                <a:solidFill>
                  <a:schemeClr val="accent1">
                    <a:lumMod val="76000"/>
                  </a:schemeClr>
                </a:solidFill>
              </a:rPr>
              <a:t>DEMO</a:t>
            </a:r>
          </a:p>
        </p:txBody>
      </p:sp>
      <p:pic>
        <p:nvPicPr>
          <p:cNvPr id="2" name="2025-12-16_07-45-36 - Axelle">
            <a:hlinkClick r:id="" action="ppaction://media"/>
            <a:extLst>
              <a:ext uri="{FF2B5EF4-FFF2-40B4-BE49-F238E27FC236}">
                <a16:creationId xmlns:a16="http://schemas.microsoft.com/office/drawing/2014/main" id="{A6D98782-2773-3B03-A18F-360FA1D2FC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63688" y="257175"/>
            <a:ext cx="1029335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2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BC3AD7-6DE5-8546-0AF7-A602EE461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1123837"/>
            <a:ext cx="4016116" cy="1255469"/>
          </a:xfrm>
        </p:spPr>
        <p:txBody>
          <a:bodyPr>
            <a:normAutofit/>
          </a:bodyPr>
          <a:lstStyle/>
          <a:p>
            <a:r>
              <a:rPr lang="fr-BE" sz="3100" b="1" u="sng" err="1"/>
              <a:t>Paginatie</a:t>
            </a:r>
            <a:br>
              <a:rPr lang="fr-BE" sz="3100" b="1" u="sng"/>
            </a:br>
            <a:r>
              <a:rPr lang="fr-BE" sz="3100" b="1" u="sng"/>
              <a:t>en frontend vs backend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1905DF6-F598-8567-2176-03A5C2709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BE" sz="1400">
                <a:solidFill>
                  <a:srgbClr val="FFFFFF"/>
                </a:solidFill>
              </a:rPr>
              <a:t>Paginatie:</a:t>
            </a:r>
          </a:p>
          <a:p>
            <a:pPr marL="0" indent="0">
              <a:buNone/>
            </a:pPr>
            <a:r>
              <a:rPr lang="fr-BE" sz="1400">
                <a:solidFill>
                  <a:srgbClr val="FFFFFF"/>
                </a:solidFill>
              </a:rPr>
              <a:t>Overzicht vr lijsten</a:t>
            </a:r>
          </a:p>
          <a:p>
            <a:pPr marL="0" indent="0">
              <a:buNone/>
            </a:pPr>
            <a:endParaRPr lang="fr-BE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fr-BE" sz="1400">
                <a:solidFill>
                  <a:srgbClr val="FFFFFF"/>
                </a:solidFill>
              </a:rPr>
              <a:t>Backend filtering:</a:t>
            </a:r>
          </a:p>
          <a:p>
            <a:pPr marL="0" indent="0">
              <a:buNone/>
            </a:pPr>
            <a:r>
              <a:rPr lang="fr-BE" sz="1400">
                <a:solidFill>
                  <a:srgbClr val="FFFFFF"/>
                </a:solidFill>
              </a:rPr>
              <a:t>=&gt;filteren over alle pagina's</a:t>
            </a:r>
          </a:p>
          <a:p>
            <a:pPr marL="0" indent="0">
              <a:buNone/>
            </a:pPr>
            <a:endParaRPr lang="fr-BE" sz="14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fr-BE" sz="1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fr-BE" sz="1400">
                <a:solidFill>
                  <a:srgbClr val="FFFFFF"/>
                </a:solidFill>
              </a:rPr>
              <a:t>Frontend filtering:</a:t>
            </a:r>
          </a:p>
          <a:p>
            <a:pPr marL="0" indent="0">
              <a:buNone/>
            </a:pPr>
            <a:r>
              <a:rPr lang="fr-BE" sz="1400">
                <a:solidFill>
                  <a:srgbClr val="FFFFFF"/>
                </a:solidFill>
              </a:rPr>
              <a:t>=&gt; zoekt 1 pagina niet hele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47867-EBCD-2082-A83E-2345C880F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682" y="1716298"/>
            <a:ext cx="6193767" cy="1517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BB2E26-8333-B70B-52BD-7CFF54BAC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438" y="4430559"/>
            <a:ext cx="7430935" cy="1138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8AC872-FC3D-5B11-9C3D-DF729C9B1123}"/>
              </a:ext>
            </a:extLst>
          </p:cNvPr>
          <p:cNvSpPr txBox="1"/>
          <p:nvPr/>
        </p:nvSpPr>
        <p:spPr>
          <a:xfrm>
            <a:off x="4647660" y="4069327"/>
            <a:ext cx="32174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Voorbeeld</a:t>
            </a:r>
            <a:r>
              <a:rPr lang="en-US"/>
              <a:t> </a:t>
            </a:r>
            <a:r>
              <a:rPr lang="en-US" err="1"/>
              <a:t>gebruik</a:t>
            </a:r>
            <a:r>
              <a:rPr lang="en-US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8D1CF-F787-2C61-F9B5-D90ECA37F1DC}"/>
              </a:ext>
            </a:extLst>
          </p:cNvPr>
          <p:cNvSpPr txBox="1"/>
          <p:nvPr/>
        </p:nvSpPr>
        <p:spPr>
          <a:xfrm>
            <a:off x="109435" y="459630"/>
            <a:ext cx="35785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Hulpslide</a:t>
            </a:r>
          </a:p>
        </p:txBody>
      </p:sp>
    </p:spTree>
    <p:extLst>
      <p:ext uri="{BB962C8B-B14F-4D97-AF65-F5344CB8AC3E}">
        <p14:creationId xmlns:p14="http://schemas.microsoft.com/office/powerpoint/2010/main" val="3006617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0ED0-8B57-86D3-F07F-17DF747D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43" y="1071646"/>
            <a:ext cx="2968358" cy="926881"/>
          </a:xfrm>
        </p:spPr>
        <p:txBody>
          <a:bodyPr/>
          <a:lstStyle/>
          <a:p>
            <a:r>
              <a:rPr lang="en-US" b="1" u="sng"/>
              <a:t>Reusable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3F892-C6A7-89BC-D361-FF6F43A5B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254" y="1970574"/>
            <a:ext cx="7315200" cy="39206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Index.html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E1C389-06C6-EB88-F0D2-B6906E87076B}"/>
              </a:ext>
            </a:extLst>
          </p:cNvPr>
          <p:cNvSpPr txBox="1"/>
          <p:nvPr/>
        </p:nvSpPr>
        <p:spPr>
          <a:xfrm>
            <a:off x="745221" y="3066884"/>
            <a:ext cx="17838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Paginatie.html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573B4-6B8F-DAA6-61F5-529C80AB1CCF}"/>
              </a:ext>
            </a:extLst>
          </p:cNvPr>
          <p:cNvSpPr txBox="1"/>
          <p:nvPr/>
        </p:nvSpPr>
        <p:spPr>
          <a:xfrm>
            <a:off x="651276" y="4490551"/>
            <a:ext cx="29657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Klant_popup.html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3D532-BDC6-2CEC-0D0E-B3C9AA421898}"/>
              </a:ext>
            </a:extLst>
          </p:cNvPr>
          <p:cNvSpPr txBox="1"/>
          <p:nvPr/>
        </p:nvSpPr>
        <p:spPr>
          <a:xfrm>
            <a:off x="229814" y="470573"/>
            <a:ext cx="14117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hulpslide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EDB78-76E9-4549-C745-2874DCF4A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715" y="1074499"/>
            <a:ext cx="5791200" cy="1619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563861-31D3-C360-D026-E859AA6D1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5" y="2971800"/>
            <a:ext cx="409575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929B2F-BC2F-B183-923C-7F6DBAE33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649" y="4282792"/>
            <a:ext cx="63341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29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83C8-E8D4-989F-3F1B-34045BAB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937320"/>
          </a:xfrm>
        </p:spPr>
        <p:txBody>
          <a:bodyPr>
            <a:normAutofit fontScale="90000"/>
          </a:bodyPr>
          <a:lstStyle/>
          <a:p>
            <a:r>
              <a:rPr lang="en-US" b="1" u="sng" err="1"/>
              <a:t>Hulpfuncties</a:t>
            </a:r>
            <a:br>
              <a:rPr lang="en-US"/>
            </a:b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365DC4-BA03-83DE-5B46-7125793EA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6805" y="1390188"/>
            <a:ext cx="5123276" cy="13127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52B038-51B8-6B1C-3339-C89B1C671A99}"/>
              </a:ext>
            </a:extLst>
          </p:cNvPr>
          <p:cNvSpPr txBox="1"/>
          <p:nvPr/>
        </p:nvSpPr>
        <p:spPr>
          <a:xfrm>
            <a:off x="359117" y="367372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hulpslide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047996-D2BA-B1AC-606E-4B007229BDCA}"/>
              </a:ext>
            </a:extLst>
          </p:cNvPr>
          <p:cNvSpPr txBox="1"/>
          <p:nvPr/>
        </p:nvSpPr>
        <p:spPr>
          <a:xfrm>
            <a:off x="262645" y="2013620"/>
            <a:ext cx="295476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Services.py om routes in </a:t>
            </a:r>
            <a:r>
              <a:rPr lang="en-US" err="1">
                <a:solidFill>
                  <a:schemeClr val="bg1"/>
                </a:solidFill>
              </a:rPr>
              <a:t>te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korten</a:t>
            </a:r>
            <a:endParaRPr lang="en-US">
              <a:solidFill>
                <a:schemeClr val="bg1"/>
              </a:solidFill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</a:rPr>
              <a:t>In de </a:t>
            </a:r>
            <a:r>
              <a:rPr lang="en-US" err="1">
                <a:solidFill>
                  <a:schemeClr val="bg1"/>
                </a:solidFill>
              </a:rPr>
              <a:t>algoritmes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F2219-2AA3-C76E-268E-0AF0185E0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461" y="1127342"/>
            <a:ext cx="3523737" cy="47807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7EA861-5152-55AB-3572-994DA4E24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00" y="3156429"/>
            <a:ext cx="3496980" cy="284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08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CEED3-702A-FD65-4925-BA4BEBD12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27" y="1123837"/>
            <a:ext cx="3052989" cy="2432414"/>
          </a:xfrm>
        </p:spPr>
        <p:txBody>
          <a:bodyPr>
            <a:normAutofit fontScale="90000"/>
          </a:bodyPr>
          <a:lstStyle/>
          <a:p>
            <a:r>
              <a:rPr lang="en-US" b="1" u="sng"/>
              <a:t>Error message=&gt; </a:t>
            </a:r>
            <a:r>
              <a:rPr lang="en-US" b="1" u="sng" err="1"/>
              <a:t>financiele</a:t>
            </a:r>
            <a:r>
              <a:rPr lang="en-US" b="1" u="sng"/>
              <a:t> </a:t>
            </a:r>
            <a:r>
              <a:rPr lang="en-US" b="1" u="sng" err="1"/>
              <a:t>gegevens</a:t>
            </a:r>
            <a:r>
              <a:rPr lang="en-US" b="1" u="sng"/>
              <a:t> </a:t>
            </a:r>
            <a:r>
              <a:rPr lang="en-US" b="1" u="sng" err="1"/>
              <a:t>behouden</a:t>
            </a:r>
            <a:endParaRPr lang="en-US" b="1" u="sng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850E1B-D6F1-69CA-7AFC-442004310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883" y="780571"/>
            <a:ext cx="6682154" cy="3283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F941DE-9F96-148E-0611-61FABACEEED7}"/>
              </a:ext>
            </a:extLst>
          </p:cNvPr>
          <p:cNvSpPr txBox="1"/>
          <p:nvPr/>
        </p:nvSpPr>
        <p:spPr>
          <a:xfrm>
            <a:off x="190499" y="410307"/>
            <a:ext cx="23592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/>
              <a:t>hulpslide</a:t>
            </a:r>
          </a:p>
        </p:txBody>
      </p:sp>
    </p:spTree>
    <p:extLst>
      <p:ext uri="{BB962C8B-B14F-4D97-AF65-F5344CB8AC3E}">
        <p14:creationId xmlns:p14="http://schemas.microsoft.com/office/powerpoint/2010/main" val="3502572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3207-B79F-07C3-5021-FA2492FB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35A34-86D1-C9B0-D8BE-EBD7223E4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3925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bd0f8f0-2c34-4788-8e54-0714874ef52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5A529C16058D44B09CB7F9A4C8DC89" ma:contentTypeVersion="10" ma:contentTypeDescription="Een nieuw document maken." ma:contentTypeScope="" ma:versionID="97cfac4ad2a7531fadf53d7401d4bf03">
  <xsd:schema xmlns:xsd="http://www.w3.org/2001/XMLSchema" xmlns:xs="http://www.w3.org/2001/XMLSchema" xmlns:p="http://schemas.microsoft.com/office/2006/metadata/properties" xmlns:ns3="1bd0f8f0-2c34-4788-8e54-0714874ef525" targetNamespace="http://schemas.microsoft.com/office/2006/metadata/properties" ma:root="true" ma:fieldsID="c9cc36ca8bb2afc5bf8d6a92c43b9f09" ns3:_="">
    <xsd:import namespace="1bd0f8f0-2c34-4788-8e54-0714874ef5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d0f8f0-2c34-4788-8e54-0714874ef5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F0C62F-CA70-456F-8DC5-9C93D323D4E1}">
  <ds:schemaRefs>
    <ds:schemaRef ds:uri="1bd0f8f0-2c34-4788-8e54-0714874ef5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715C3A2-5AAB-4F4D-8B29-659691CBFE19}">
  <ds:schemaRefs>
    <ds:schemaRef ds:uri="1bd0f8f0-2c34-4788-8e54-0714874ef5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3840C97-6455-4B31-9BAF-D644BA214B8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Application>Microsoft Office PowerPoint</Application>
  <PresentationFormat>Widescreen</PresentationFormat>
  <Slides>16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Frame</vt:lpstr>
      <vt:lpstr>Project: Op Wielekes</vt:lpstr>
      <vt:lpstr>Wat is Op Wielekes?</vt:lpstr>
      <vt:lpstr>Database</vt:lpstr>
      <vt:lpstr>VSCode opmaak</vt:lpstr>
      <vt:lpstr>Login</vt:lpstr>
      <vt:lpstr>Klanten</vt:lpstr>
      <vt:lpstr>Verhuur</vt:lpstr>
      <vt:lpstr>Financieel</vt:lpstr>
      <vt:lpstr>Algoritme </vt:lpstr>
      <vt:lpstr>Voorspelling algoritme</vt:lpstr>
      <vt:lpstr>PowerPoint Presentation</vt:lpstr>
      <vt:lpstr>Paginatie en frontend vs backend</vt:lpstr>
      <vt:lpstr>Reusable html</vt:lpstr>
      <vt:lpstr>Hulpfuncties </vt:lpstr>
      <vt:lpstr>Error message=&gt; financiele gegevens behouden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Dag Pieters</dc:creator>
  <cp:revision>15</cp:revision>
  <dcterms:created xsi:type="dcterms:W3CDTF">2025-12-09T11:02:31Z</dcterms:created>
  <dcterms:modified xsi:type="dcterms:W3CDTF">2025-12-19T08:47:11Z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0x010100265A529C16058D44B09CB7F9A4C8DC89</vt:lpwstr>
  </property>
</Properties>
</file>